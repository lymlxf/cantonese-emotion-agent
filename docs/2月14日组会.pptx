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5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9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7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z="4800"/>
              <a:t>2.14</a:t>
            </a:r>
            <a:r>
              <a:rPr lang="zh-CN" altLang="en-US" sz="4800"/>
              <a:t>组会</a:t>
            </a:r>
            <a:endParaRPr lang="zh-CN" altLang="en-US" sz="48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李俊彦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29130" y="1675765"/>
            <a:ext cx="3162300" cy="495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130" y="2099310"/>
            <a:ext cx="3246120" cy="2476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1675765"/>
            <a:ext cx="3200400" cy="28879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57465" y="1039495"/>
            <a:ext cx="3253740" cy="25984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615" y="1039495"/>
            <a:ext cx="3169920" cy="1219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615" y="2493010"/>
            <a:ext cx="3169920" cy="12496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8615" y="4033520"/>
            <a:ext cx="3169920" cy="1455420"/>
          </a:xfrm>
          <a:prstGeom prst="rect">
            <a:avLst/>
          </a:prstGeom>
        </p:spPr>
      </p:pic>
      <p:cxnSp>
        <p:nvCxnSpPr>
          <p:cNvPr id="9" name="直接箭头连接符 8"/>
          <p:cNvCxnSpPr>
            <a:stCxn id="6" idx="2"/>
          </p:cNvCxnSpPr>
          <p:nvPr/>
        </p:nvCxnSpPr>
        <p:spPr>
          <a:xfrm flipH="1">
            <a:off x="5742940" y="3742690"/>
            <a:ext cx="635" cy="23622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右大括号 9"/>
          <p:cNvSpPr/>
          <p:nvPr/>
        </p:nvSpPr>
        <p:spPr>
          <a:xfrm>
            <a:off x="7367270" y="1295400"/>
            <a:ext cx="248285" cy="2266315"/>
          </a:xfrm>
          <a:prstGeom prst="rightBrace">
            <a:avLst>
              <a:gd name="adj1" fmla="val 8333"/>
              <a:gd name="adj2" fmla="val 36845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8610" y="3916680"/>
            <a:ext cx="2468880" cy="1908175"/>
          </a:xfrm>
          <a:prstGeom prst="rect">
            <a:avLst/>
          </a:prstGeom>
        </p:spPr>
      </p:pic>
      <p:cxnSp>
        <p:nvCxnSpPr>
          <p:cNvPr id="12" name="直接箭头连接符 11"/>
          <p:cNvCxnSpPr>
            <a:stCxn id="8" idx="3"/>
          </p:cNvCxnSpPr>
          <p:nvPr/>
        </p:nvCxnSpPr>
        <p:spPr>
          <a:xfrm flipV="1">
            <a:off x="7328535" y="4760595"/>
            <a:ext cx="567690" cy="63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610" y="978535"/>
            <a:ext cx="3116580" cy="484632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0590" y="3698240"/>
            <a:ext cx="3558540" cy="3159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930" y="1545590"/>
            <a:ext cx="5356860" cy="22193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70885" y="177870"/>
            <a:ext cx="10969200" cy="705600"/>
          </a:xfrm>
        </p:spPr>
        <p:txBody>
          <a:bodyPr>
            <a:noAutofit/>
          </a:bodyPr>
          <a:p>
            <a:r>
              <a:rPr lang="en-US" altLang="zh-CN" sz="1600">
                <a:latin typeface="+mn-lt"/>
                <a:cs typeface="+mn-lt"/>
              </a:rPr>
              <a:t>Speech emotion recognition using deep 1D &amp; 2D CNN LSTM networks</a:t>
            </a:r>
            <a:endParaRPr lang="en-US" altLang="zh-CN" sz="1600">
              <a:latin typeface="+mn-lt"/>
              <a:cs typeface="+mn-lt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3230" y="2061210"/>
            <a:ext cx="3771265" cy="11150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3230" y="982345"/>
            <a:ext cx="96107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LSTM</a:t>
            </a:r>
            <a:r>
              <a:rPr lang="zh-CN" altLang="en-US" sz="1400"/>
              <a:t>（</a:t>
            </a:r>
            <a:r>
              <a:rPr lang="en-US" altLang="zh-CN" sz="1400"/>
              <a:t>Long Short-Term Memory</a:t>
            </a:r>
            <a:r>
              <a:rPr lang="zh-CN" altLang="en-US" sz="1400"/>
              <a:t>，长短期记忆网络）</a:t>
            </a:r>
            <a:r>
              <a:rPr lang="en-US" altLang="zh-CN" sz="1400"/>
              <a:t> </a:t>
            </a:r>
            <a:r>
              <a:rPr lang="zh-CN" altLang="en-US" sz="1400"/>
              <a:t>是一种特殊的循环神经网络（</a:t>
            </a:r>
            <a:r>
              <a:rPr lang="en-US" altLang="zh-CN" sz="1400"/>
              <a:t>RNN</a:t>
            </a:r>
            <a:r>
              <a:rPr lang="zh-CN" altLang="en-US" sz="1400"/>
              <a:t>），专门设计用来解决传统</a:t>
            </a:r>
            <a:r>
              <a:rPr lang="en-US" altLang="zh-CN" sz="1400"/>
              <a:t> RNN </a:t>
            </a:r>
            <a:r>
              <a:rPr lang="zh-CN" altLang="en-US" sz="1400"/>
              <a:t>在处理长序列数据时遇到的</a:t>
            </a:r>
            <a:r>
              <a:rPr lang="en-US" altLang="zh-CN" sz="1400"/>
              <a:t> “</a:t>
            </a:r>
            <a:r>
              <a:rPr lang="zh-CN" altLang="en-US" sz="1400"/>
              <a:t>梯度消失</a:t>
            </a:r>
            <a:r>
              <a:rPr lang="en-US" altLang="zh-CN" sz="1400"/>
              <a:t>”</a:t>
            </a:r>
            <a:r>
              <a:rPr lang="zh-CN" altLang="en-US" sz="1400"/>
              <a:t>和</a:t>
            </a:r>
            <a:r>
              <a:rPr lang="en-US" altLang="zh-CN" sz="1400"/>
              <a:t>“</a:t>
            </a:r>
            <a:r>
              <a:rPr lang="zh-CN" altLang="en-US" sz="1400"/>
              <a:t>梯度爆炸</a:t>
            </a:r>
            <a:r>
              <a:rPr lang="en-US" altLang="zh-CN" sz="1400"/>
              <a:t>” </a:t>
            </a:r>
            <a:r>
              <a:rPr lang="zh-CN" altLang="en-US" sz="1400"/>
              <a:t>问题。</a:t>
            </a:r>
            <a:endParaRPr lang="zh-CN" altLang="en-US" sz="1400"/>
          </a:p>
          <a:p>
            <a:r>
              <a:rPr lang="zh-CN" altLang="en-US" sz="1400"/>
              <a:t>简单说：</a:t>
            </a:r>
            <a:r>
              <a:rPr lang="en-US" altLang="zh-CN" sz="1400"/>
              <a:t>LSTM </a:t>
            </a:r>
            <a:r>
              <a:rPr lang="zh-CN" altLang="en-US" sz="1400"/>
              <a:t>就是一个拥有</a:t>
            </a:r>
            <a:r>
              <a:rPr lang="en-US" altLang="zh-CN" sz="1400"/>
              <a:t>“</a:t>
            </a:r>
            <a:r>
              <a:rPr lang="zh-CN" altLang="en-US" sz="1400"/>
              <a:t>选择性记忆</a:t>
            </a:r>
            <a:r>
              <a:rPr lang="en-US" altLang="zh-CN" sz="1400"/>
              <a:t>”</a:t>
            </a:r>
            <a:r>
              <a:rPr lang="zh-CN" altLang="en-US" sz="1400"/>
              <a:t>能力的智能单元，让它在处理像语音这样充满时间动态的信息时，表现远超普通神经网络。</a:t>
            </a:r>
            <a:endParaRPr lang="zh-CN" altLang="en-US" sz="1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845" y="3255645"/>
            <a:ext cx="3581400" cy="345948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0885" y="197555"/>
            <a:ext cx="10969200" cy="705600"/>
          </a:xfrm>
        </p:spPr>
        <p:txBody>
          <a:bodyPr>
            <a:noAutofit/>
          </a:bodyPr>
          <a:p>
            <a:r>
              <a:rPr lang="en-US" altLang="zh-CN" sz="1600"/>
              <a:t>A NOVEL END-TO-END SPEECH EMOTION RECOGNITION NETWORK WITH STACKED</a:t>
            </a:r>
            <a:br>
              <a:rPr lang="en-US" altLang="zh-CN" sz="1600"/>
            </a:br>
            <a:r>
              <a:rPr lang="en-US" altLang="zh-CN" sz="1600"/>
              <a:t>TRANSFORMER LAYERS</a:t>
            </a:r>
            <a:endParaRPr lang="en-US" altLang="zh-CN" sz="16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6260" y="949325"/>
            <a:ext cx="3383280" cy="2042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580" y="861060"/>
            <a:ext cx="3314700" cy="23469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435" y="4912995"/>
            <a:ext cx="3329940" cy="16840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790" y="4859655"/>
            <a:ext cx="3345180" cy="1790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" y="3429000"/>
            <a:ext cx="3268980" cy="3276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3580" y="3429000"/>
            <a:ext cx="3230880" cy="120396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7875" y="193745"/>
            <a:ext cx="10969200" cy="705600"/>
          </a:xfrm>
        </p:spPr>
        <p:txBody>
          <a:bodyPr/>
          <a:p>
            <a:r>
              <a:rPr lang="en-US" altLang="zh-CN" sz="1600"/>
              <a:t>yue_emo_speech|</a:t>
            </a:r>
            <a:r>
              <a:rPr lang="zh-CN" altLang="en-US" sz="1600"/>
              <a:t>粤语语音数据集</a:t>
            </a:r>
            <a:r>
              <a:rPr lang="en-US" altLang="zh-CN" sz="1600"/>
              <a:t>|</a:t>
            </a:r>
            <a:r>
              <a:rPr lang="zh-CN" altLang="en-US" sz="1600"/>
              <a:t>情感识别数据集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217805" y="861695"/>
            <a:ext cx="104825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该数据集从</a:t>
            </a:r>
            <a:r>
              <a:rPr lang="en-US" altLang="zh-CN" sz="1400"/>
              <a:t>YouTube</a:t>
            </a:r>
            <a:r>
              <a:rPr lang="zh-CN" altLang="en-US" sz="1400"/>
              <a:t>和</a:t>
            </a:r>
            <a:r>
              <a:rPr lang="en-US" altLang="zh-CN" sz="1400"/>
              <a:t>RTHK</a:t>
            </a:r>
            <a:r>
              <a:rPr lang="zh-CN" altLang="en-US" sz="1400"/>
              <a:t>收集，包含</a:t>
            </a:r>
            <a:r>
              <a:rPr lang="en-US" altLang="zh-CN" sz="1400"/>
              <a:t>1,000</a:t>
            </a:r>
            <a:r>
              <a:rPr lang="zh-CN" altLang="en-US" sz="1400"/>
              <a:t>小时的粤语语音，每段语音都被标记为以下情绪之一：愤怒、厌恶、恐惧、快乐、中性、其他、悲伤或惊讶。数据集中还包括了情绪标签的置信度。音频文件通过</a:t>
            </a:r>
            <a:r>
              <a:rPr lang="en-US" altLang="zh-CN" sz="1400"/>
              <a:t>resemble-enhance</a:t>
            </a:r>
            <a:r>
              <a:rPr lang="zh-CN" altLang="en-US" sz="1400"/>
              <a:t>进行了降噪处理。转录文本由</a:t>
            </a:r>
            <a:r>
              <a:rPr lang="en-US" altLang="zh-CN" sz="1400"/>
              <a:t>SenseVoiceSmall</a:t>
            </a:r>
            <a:r>
              <a:rPr lang="zh-CN" altLang="en-US" sz="1400"/>
              <a:t>生成，并使用</a:t>
            </a:r>
            <a:r>
              <a:rPr lang="en-US" altLang="zh-CN" sz="1400"/>
              <a:t>MinHash</a:t>
            </a:r>
            <a:r>
              <a:rPr lang="zh-CN" altLang="en-US" sz="1400"/>
              <a:t>去重。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217805" y="1727200"/>
            <a:ext cx="665988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JSON</a:t>
            </a:r>
            <a:endParaRPr lang="en-US" altLang="zh-CN" sz="1400"/>
          </a:p>
          <a:p>
            <a:r>
              <a:rPr lang="en-US" altLang="zh-CN" sz="1400"/>
              <a:t>[{</a:t>
            </a:r>
            <a:endParaRPr lang="en-US" altLang="zh-CN" sz="1400"/>
          </a:p>
          <a:p>
            <a:pPr indent="457200"/>
            <a:r>
              <a:rPr lang="en-US" altLang="zh-CN" sz="1400"/>
              <a:t>“audio_file”:</a:t>
            </a:r>
            <a:endParaRPr lang="en-US" altLang="zh-CN" sz="1400"/>
          </a:p>
          <a:p>
            <a:pPr indent="457200"/>
            <a:r>
              <a:rPr lang="en-US" altLang="zh-CN" sz="1400"/>
              <a:t>{</a:t>
            </a:r>
            <a:endParaRPr lang="en-US" altLang="zh-CN" sz="1400"/>
          </a:p>
          <a:p>
            <a:pPr marL="457200" lvl="1" indent="457200"/>
            <a:r>
              <a:rPr lang="en-US" altLang="zh-CN" sz="1400"/>
              <a:t>“bytes”:</a:t>
            </a:r>
            <a:endParaRPr lang="en-US" altLang="zh-CN" sz="1400"/>
          </a:p>
          <a:p>
            <a:pPr marL="457200" lvl="1" indent="457200"/>
            <a:r>
              <a:rPr lang="en-US" altLang="zh-CN" sz="1400"/>
              <a:t>{</a:t>
            </a:r>
            <a:endParaRPr lang="en-US" altLang="zh-CN" sz="1400"/>
          </a:p>
          <a:p>
            <a:pPr marL="914400" lvl="2" indent="457200"/>
            <a:r>
              <a:rPr lang="en-US" altLang="zh-CN" sz="1400"/>
              <a:t>“0”:255,</a:t>
            </a:r>
            <a:endParaRPr lang="en-US" altLang="zh-CN" sz="1400"/>
          </a:p>
          <a:p>
            <a:pPr marL="914400" lvl="2" indent="457200"/>
            <a:r>
              <a:rPr lang="en-US" altLang="zh-CN" sz="1400"/>
              <a:t>“1”:255,</a:t>
            </a:r>
            <a:endParaRPr lang="en-US" altLang="zh-CN" sz="1400"/>
          </a:p>
          <a:p>
            <a:pPr marL="914400" lvl="2" indent="457200"/>
            <a:r>
              <a:rPr lang="en-US" altLang="zh-CN" sz="1400"/>
              <a:t>...</a:t>
            </a:r>
            <a:endParaRPr lang="en-US" altLang="zh-CN" sz="1400"/>
          </a:p>
          <a:p>
            <a:pPr marL="457200" lvl="1" indent="457200"/>
            <a:r>
              <a:rPr lang="en-US" altLang="zh-CN" sz="1400"/>
              <a:t>}</a:t>
            </a:r>
            <a:endParaRPr lang="en-US" altLang="zh-CN" sz="1400"/>
          </a:p>
          <a:p>
            <a:pPr indent="457200"/>
            <a:r>
              <a:rPr lang="en-US" altLang="zh-CN" sz="1400"/>
              <a:t>},</a:t>
            </a:r>
            <a:endParaRPr lang="en-US" altLang="zh-CN" sz="1400"/>
          </a:p>
          <a:p>
            <a:pPr indent="457200"/>
            <a:r>
              <a:rPr lang="en-US" altLang="zh-CN" sz="1400"/>
              <a:t>“path”:”xxx.mp3”,</a:t>
            </a:r>
            <a:endParaRPr lang="en-US" altLang="zh-CN" sz="1400"/>
          </a:p>
          <a:p>
            <a:pPr indent="457200"/>
            <a:r>
              <a:rPr lang="en-US" altLang="zh-CN" sz="1400"/>
              <a:t>“duration”:xxx,</a:t>
            </a:r>
            <a:endParaRPr lang="en-US" altLang="zh-CN" sz="1400"/>
          </a:p>
          <a:p>
            <a:pPr indent="457200"/>
            <a:r>
              <a:rPr lang="en-US" altLang="zh-CN" sz="1400"/>
              <a:t>“label”:neutral,</a:t>
            </a:r>
            <a:endParaRPr lang="en-US" altLang="zh-CN" sz="1400"/>
          </a:p>
          <a:p>
            <a:pPr indent="457200"/>
            <a:r>
              <a:rPr lang="en-US" altLang="zh-CN" sz="1400"/>
              <a:t>“confidence”:1.0,</a:t>
            </a:r>
            <a:endParaRPr lang="en-US" altLang="zh-CN" sz="1400"/>
          </a:p>
          <a:p>
            <a:pPr indent="457200"/>
            <a:r>
              <a:rPr lang="en-US" altLang="zh-CN" sz="1400"/>
              <a:t>“text”:”</a:t>
            </a:r>
            <a:r>
              <a:rPr lang="zh-CN" altLang="en-US" sz="1400"/>
              <a:t>素素仲留低咗一个地址记得，系曼谷嘅吞母李府。</a:t>
            </a:r>
            <a:r>
              <a:rPr lang="en-US" altLang="zh-CN" sz="1400"/>
              <a:t>”</a:t>
            </a:r>
            <a:endParaRPr lang="zh-CN" altLang="en-US" sz="1400"/>
          </a:p>
          <a:p>
            <a:r>
              <a:rPr lang="en-US" altLang="zh-CN" sz="1400"/>
              <a:t>},</a:t>
            </a:r>
            <a:endParaRPr lang="en-US" altLang="zh-CN" sz="1400"/>
          </a:p>
          <a:p>
            <a:r>
              <a:rPr lang="en-US" altLang="zh-CN" sz="1400"/>
              <a:t>...]</a:t>
            </a:r>
            <a:endParaRPr lang="en-US" altLang="zh-CN" sz="1400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7875" y="200095"/>
            <a:ext cx="10969200" cy="705600"/>
          </a:xfrm>
        </p:spPr>
        <p:txBody>
          <a:bodyPr/>
          <a:p>
            <a:r>
              <a:rPr lang="en-US" altLang="zh-CN" sz="1600"/>
              <a:t>Reference</a:t>
            </a:r>
            <a:endParaRPr lang="en-US" altLang="zh-CN" sz="1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313870"/>
            <a:ext cx="10969200" cy="4759200"/>
          </a:xfrm>
        </p:spPr>
        <p:txBody>
          <a:bodyPr/>
          <a:p>
            <a:pPr marL="0" indent="0">
              <a:lnSpc>
                <a:spcPct val="30000"/>
              </a:lnSpc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[1]GAO Qingji, ZHAO Zhihua, XU Da, et al. Review on speech emotion recognition research[J]. CAAI transactions on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30000"/>
              </a:lnSpc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intelligent systems, 2020, 15(1): 1–13.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[2]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罗德虎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冉启武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杨超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等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语音情感识别研究综述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[J]. Journal of Computer Engineering &amp; Applications, 2022, 58(21).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[3]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刘振焘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徐建平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吴敏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等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语音情感特征提取及其降维方法综述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[J].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计算机学报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, 2018, 41(12): 2833-2851.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[4]Jin Q, Li C, Chen S, et al. Speech emotion recognition with acoustic and lexical features[C]//2015 IEEE international conference on acoustics, speech and signal processing (ICASSP). IEEE, 2015: 4749-4753.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[5]Zhao J, Mao X, Chen L. Speech emotion recognition using deep 1D &amp; 2D CNN LSTM networks[J]. Biomedical signal processing and control, 2019, 47: 312-323.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</a:rPr>
              <a:t>[6]Wang X, Wang M, Qi W, et al. A novel end-to-end speech emotion recognition network with stacked transformer layers[C]//ICASSP 2021-2021 IEEE International Conference on Acoustics, Speech and Signal Processing (ICASSP). IEEE, 2021: 6289-6293.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1593</Words>
  <Application>WPS 演示</Application>
  <PresentationFormat>宽屏</PresentationFormat>
  <Paragraphs>49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不南飞的大雁</cp:lastModifiedBy>
  <cp:revision>157</cp:revision>
  <dcterms:created xsi:type="dcterms:W3CDTF">2019-06-19T02:08:00Z</dcterms:created>
  <dcterms:modified xsi:type="dcterms:W3CDTF">2026-02-14T07:11:55Z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A398000FF6B54D299D1761946A054A48_11</vt:lpwstr>
  </property>
</Properties>
</file>