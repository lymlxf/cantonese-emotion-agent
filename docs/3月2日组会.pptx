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96" y="2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A7145A-2E2B-7CB4-9EA8-F3AAAEF37E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3</a:t>
            </a:r>
            <a:r>
              <a:rPr lang="zh-CN" altLang="en-US" sz="4000" dirty="0"/>
              <a:t>月</a:t>
            </a:r>
            <a:r>
              <a:rPr lang="en-US" altLang="zh-CN" sz="4000" dirty="0"/>
              <a:t>2</a:t>
            </a:r>
            <a:r>
              <a:rPr lang="zh-CN" altLang="en-US" sz="4000" dirty="0"/>
              <a:t>日组会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9667D0-BF0F-C1D6-A076-1DA3F1DB05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李俊彦</a:t>
            </a:r>
          </a:p>
        </p:txBody>
      </p:sp>
    </p:spTree>
    <p:extLst>
      <p:ext uri="{BB962C8B-B14F-4D97-AF65-F5344CB8AC3E}">
        <p14:creationId xmlns:p14="http://schemas.microsoft.com/office/powerpoint/2010/main" val="1576665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8375D70-B927-ADDA-CD48-9977A926C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78" y="1563101"/>
            <a:ext cx="5646157" cy="316215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D67AA05-317A-46D1-13E2-15FF6F0E2F3D}"/>
              </a:ext>
            </a:extLst>
          </p:cNvPr>
          <p:cNvSpPr txBox="1"/>
          <p:nvPr/>
        </p:nvSpPr>
        <p:spPr>
          <a:xfrm>
            <a:off x="2011730" y="1193769"/>
            <a:ext cx="259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Long</a:t>
            </a:r>
            <a:r>
              <a:rPr lang="zh-CN" altLang="en-US" dirty="0"/>
              <a:t> </a:t>
            </a:r>
            <a:r>
              <a:rPr lang="en-US" altLang="zh-CN" dirty="0"/>
              <a:t>Short-Term Memory</a:t>
            </a:r>
            <a:endParaRPr lang="zh-CN" altLang="en-US" dirty="0"/>
          </a:p>
        </p:txBody>
      </p:sp>
      <p:pic>
        <p:nvPicPr>
          <p:cNvPr id="8" name="图片 7" descr="墙上的钟表&#10;&#10;AI 生成的内容可能不正确。">
            <a:extLst>
              <a:ext uri="{FF2B5EF4-FFF2-40B4-BE49-F238E27FC236}">
                <a16:creationId xmlns:a16="http://schemas.microsoft.com/office/drawing/2014/main" id="{BCC81ACB-4B53-1A05-3DD4-883703B3E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743" y="1563101"/>
            <a:ext cx="5316132" cy="1785268"/>
          </a:xfrm>
          <a:prstGeom prst="rect">
            <a:avLst/>
          </a:prstGeom>
        </p:spPr>
      </p:pic>
      <p:pic>
        <p:nvPicPr>
          <p:cNvPr id="10" name="图片 9" descr="图示, 示意图&#10;&#10;AI 生成的内容可能不正确。">
            <a:extLst>
              <a:ext uri="{FF2B5EF4-FFF2-40B4-BE49-F238E27FC236}">
                <a16:creationId xmlns:a16="http://schemas.microsoft.com/office/drawing/2014/main" id="{5C9158D9-84DF-60D6-B8D3-793718A7E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71" y="3507203"/>
            <a:ext cx="3571875" cy="942975"/>
          </a:xfrm>
          <a:prstGeom prst="rect">
            <a:avLst/>
          </a:prstGeom>
        </p:spPr>
      </p:pic>
      <p:pic>
        <p:nvPicPr>
          <p:cNvPr id="12" name="图片 11" descr="图示&#10;&#10;AI 生成的内容可能不正确。">
            <a:extLst>
              <a:ext uri="{FF2B5EF4-FFF2-40B4-BE49-F238E27FC236}">
                <a16:creationId xmlns:a16="http://schemas.microsoft.com/office/drawing/2014/main" id="{81578F87-98B9-176F-711F-9F59728463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5645" y="4480432"/>
            <a:ext cx="2600325" cy="5334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97F7D42-BBC7-6ED5-E8EB-03466AE10F15}"/>
              </a:ext>
            </a:extLst>
          </p:cNvPr>
          <p:cNvSpPr txBox="1"/>
          <p:nvPr/>
        </p:nvSpPr>
        <p:spPr>
          <a:xfrm>
            <a:off x="5902711" y="281677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ADB267-5A3C-C900-0B69-2A6E07706B3B}"/>
              </a:ext>
            </a:extLst>
          </p:cNvPr>
          <p:cNvSpPr txBox="1"/>
          <p:nvPr/>
        </p:nvSpPr>
        <p:spPr>
          <a:xfrm>
            <a:off x="8441344" y="1219601"/>
            <a:ext cx="1840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Bidirectional RNN</a:t>
            </a:r>
            <a:endParaRPr lang="zh-CN" altLang="en-US" dirty="0"/>
          </a:p>
        </p:txBody>
      </p:sp>
      <p:pic>
        <p:nvPicPr>
          <p:cNvPr id="16" name="图片 15" descr="文本&#10;&#10;AI 生成的内容可能不正确。">
            <a:extLst>
              <a:ext uri="{FF2B5EF4-FFF2-40B4-BE49-F238E27FC236}">
                <a16:creationId xmlns:a16="http://schemas.microsoft.com/office/drawing/2014/main" id="{604357D0-87AD-5C4B-002E-37FCDEBDB3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667" y="4645952"/>
            <a:ext cx="3286125" cy="1504950"/>
          </a:xfrm>
          <a:prstGeom prst="rect">
            <a:avLst/>
          </a:prstGeom>
        </p:spPr>
      </p:pic>
      <p:pic>
        <p:nvPicPr>
          <p:cNvPr id="18" name="图片 17" descr="公司名称&#10;&#10;AI 生成的内容可能不正确。">
            <a:extLst>
              <a:ext uri="{FF2B5EF4-FFF2-40B4-BE49-F238E27FC236}">
                <a16:creationId xmlns:a16="http://schemas.microsoft.com/office/drawing/2014/main" id="{793105A9-9C6A-FBE0-5135-FF2EA97DA3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474" y="4566540"/>
            <a:ext cx="3657600" cy="581025"/>
          </a:xfrm>
          <a:prstGeom prst="rect">
            <a:avLst/>
          </a:prstGeom>
        </p:spPr>
      </p:pic>
      <p:pic>
        <p:nvPicPr>
          <p:cNvPr id="20" name="图片 19" descr="图片包含 文本&#10;&#10;AI 生成的内容可能不正确。">
            <a:extLst>
              <a:ext uri="{FF2B5EF4-FFF2-40B4-BE49-F238E27FC236}">
                <a16:creationId xmlns:a16="http://schemas.microsoft.com/office/drawing/2014/main" id="{40912B46-0D7E-CEA8-2F3E-DB03BBD943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5774" y="5094586"/>
            <a:ext cx="1905000" cy="485775"/>
          </a:xfrm>
          <a:prstGeom prst="rect">
            <a:avLst/>
          </a:prstGeom>
        </p:spPr>
      </p:pic>
      <p:sp>
        <p:nvSpPr>
          <p:cNvPr id="21" name="标题 1">
            <a:extLst>
              <a:ext uri="{FF2B5EF4-FFF2-40B4-BE49-F238E27FC236}">
                <a16:creationId xmlns:a16="http://schemas.microsoft.com/office/drawing/2014/main" id="{24CF2AEE-162A-9B07-ABB1-88352E2D8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78" y="149382"/>
            <a:ext cx="10515600" cy="755061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Recurrent Neural Networks (RNNs): </a:t>
            </a:r>
            <a:r>
              <a:rPr lang="en-US" altLang="zh-CN" sz="2000" dirty="0" err="1"/>
              <a:t>Agentle</a:t>
            </a:r>
            <a:r>
              <a:rPr lang="en-US" altLang="zh-CN" sz="2000" dirty="0"/>
              <a:t> Introduction and Overview</a:t>
            </a:r>
            <a:endParaRPr lang="zh-CN" altLang="en-US" sz="20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6EA94B-26EE-5D2B-0288-6B7387B408D8}"/>
              </a:ext>
            </a:extLst>
          </p:cNvPr>
          <p:cNvSpPr txBox="1"/>
          <p:nvPr/>
        </p:nvSpPr>
        <p:spPr>
          <a:xfrm>
            <a:off x="1555612" y="6042570"/>
            <a:ext cx="3275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          适应性强，变长序列，</a:t>
            </a:r>
            <a:endParaRPr lang="en-US" altLang="zh-CN" dirty="0"/>
          </a:p>
          <a:p>
            <a:r>
              <a:rPr lang="zh-CN" altLang="en-US" dirty="0"/>
              <a:t>能记长远，解决梯度消失</a:t>
            </a:r>
            <a:r>
              <a:rPr lang="en-US" altLang="zh-CN" dirty="0"/>
              <a:t>/</a:t>
            </a:r>
            <a:r>
              <a:rPr lang="zh-CN" altLang="en-US" dirty="0"/>
              <a:t>爆炸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B1BFFA8-6F53-AD09-504E-65695134C88C}"/>
              </a:ext>
            </a:extLst>
          </p:cNvPr>
          <p:cNvSpPr txBox="1"/>
          <p:nvPr/>
        </p:nvSpPr>
        <p:spPr>
          <a:xfrm>
            <a:off x="7911623" y="5921528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                   双向上下文</a:t>
            </a:r>
            <a:endParaRPr lang="en-US" altLang="zh-CN" dirty="0"/>
          </a:p>
          <a:p>
            <a:r>
              <a:rPr lang="zh-CN" altLang="en-US" dirty="0"/>
              <a:t>不能用于预测，适合提取特征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35ABDDC-D4B1-B3BE-758B-27C0AB8B9D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5543" y="5172287"/>
            <a:ext cx="4391490" cy="37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750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8939B-11F1-0562-3D84-B2167C728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7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Multimodal Emotion Recognition using Cross-Modal Attention and 1D Convolutional Neural Networks</a:t>
            </a:r>
            <a:endParaRPr lang="zh-CN" altLang="en-US" sz="2000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326A1BCC-1A30-60AA-1F94-4D7A99766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77" y="1130190"/>
            <a:ext cx="5057775" cy="3714750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B805D5ED-A8BB-1BB3-C290-59E2D607C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434" y="1968915"/>
            <a:ext cx="4326031" cy="3019294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63C47DAE-014F-5960-F34D-D71D69D5F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080" y="933088"/>
            <a:ext cx="3295650" cy="981075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D6D63AF-386C-EDAF-1E1D-C1792087CD21}"/>
              </a:ext>
            </a:extLst>
          </p:cNvPr>
          <p:cNvCxnSpPr>
            <a:endCxn id="9" idx="1"/>
          </p:cNvCxnSpPr>
          <p:nvPr/>
        </p:nvCxnSpPr>
        <p:spPr>
          <a:xfrm flipV="1">
            <a:off x="4635062" y="1423626"/>
            <a:ext cx="1850018" cy="815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B6E9021-01B0-3916-7F00-9E1FC536CFDB}"/>
              </a:ext>
            </a:extLst>
          </p:cNvPr>
          <p:cNvCxnSpPr/>
          <p:nvPr/>
        </p:nvCxnSpPr>
        <p:spPr>
          <a:xfrm>
            <a:off x="4635062" y="2825181"/>
            <a:ext cx="1362141" cy="346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表格&#10;&#10;AI 生成的内容可能不正确。">
            <a:extLst>
              <a:ext uri="{FF2B5EF4-FFF2-40B4-BE49-F238E27FC236}">
                <a16:creationId xmlns:a16="http://schemas.microsoft.com/office/drawing/2014/main" id="{21FEC6C8-FC44-B382-83A5-656E6166E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9496" y="4940069"/>
            <a:ext cx="3050331" cy="1870109"/>
          </a:xfrm>
          <a:prstGeom prst="rect">
            <a:avLst/>
          </a:prstGeom>
        </p:spPr>
      </p:pic>
      <p:pic>
        <p:nvPicPr>
          <p:cNvPr id="19" name="图片 18" descr="文本&#10;&#10;AI 生成的内容可能不正确。">
            <a:extLst>
              <a:ext uri="{FF2B5EF4-FFF2-40B4-BE49-F238E27FC236}">
                <a16:creationId xmlns:a16="http://schemas.microsoft.com/office/drawing/2014/main" id="{0EE12861-B405-5693-690C-B5E43E9981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77" y="4940069"/>
            <a:ext cx="3188913" cy="1136703"/>
          </a:xfrm>
          <a:prstGeom prst="rect">
            <a:avLst/>
          </a:prstGeom>
        </p:spPr>
      </p:pic>
      <p:pic>
        <p:nvPicPr>
          <p:cNvPr id="21" name="图片 20" descr="表格&#10;&#10;AI 生成的内容可能不正确。">
            <a:extLst>
              <a:ext uri="{FF2B5EF4-FFF2-40B4-BE49-F238E27FC236}">
                <a16:creationId xmlns:a16="http://schemas.microsoft.com/office/drawing/2014/main" id="{070E6AE9-F57E-CDA5-E6D4-87CDD60354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0116" y="4988208"/>
            <a:ext cx="3657689" cy="182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72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81C94-1DA9-A130-4DFD-EAA4A6EA3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6B42A4-C0EF-E101-FABF-BA6A39926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552796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60</Words>
  <Application>Microsoft Office PowerPoint</Application>
  <PresentationFormat>宽屏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Calibri</vt:lpstr>
      <vt:lpstr>WPS</vt:lpstr>
      <vt:lpstr>3月2日组会</vt:lpstr>
      <vt:lpstr>Recurrent Neural Networks (RNNs): Agentle Introduction and Overview</vt:lpstr>
      <vt:lpstr>Multimodal Emotion Recognition using Cross-Modal Attention and 1D Convolutional Neural Networks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rude</dc:creator>
  <cp:lastModifiedBy>u3666033@connect.hku.hk</cp:lastModifiedBy>
  <cp:revision>5</cp:revision>
  <dcterms:created xsi:type="dcterms:W3CDTF">2023-08-09T12:44:00Z</dcterms:created>
  <dcterms:modified xsi:type="dcterms:W3CDTF">2026-03-02T03:27:39Z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