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22" autoAdjust="0"/>
  </p:normalViewPr>
  <p:slideViewPr>
    <p:cSldViewPr>
      <p:cViewPr varScale="1">
        <p:scale>
          <a:sx n="80" d="100"/>
          <a:sy n="80" d="100"/>
        </p:scale>
        <p:origin x="749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59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9625" y="0"/>
            <a:ext cx="11422375" cy="6858000"/>
            <a:chOff x="769625" y="0"/>
            <a:chExt cx="11422375" cy="6858000"/>
          </a:xfrm>
        </p:grpSpPr>
        <p:sp>
          <p:nvSpPr>
            <p:cNvPr id="3" name="AutoShape 3"/>
            <p:cNvSpPr/>
            <p:nvPr/>
          </p:nvSpPr>
          <p:spPr>
            <a:xfrm>
              <a:off x="7619998" y="0"/>
              <a:ext cx="4572002" cy="6858000"/>
            </a:xfrm>
            <a:prstGeom prst="rect">
              <a:avLst/>
            </a:prstGeom>
            <a:solidFill>
              <a:srgbClr val="2657C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7619998" y="0"/>
              <a:ext cx="1142998" cy="2283116"/>
            </a:xfrm>
            <a:custGeom>
              <a:avLst/>
              <a:gdLst/>
              <a:ahLst/>
              <a:cxnLst/>
              <a:rect l="l" t="t" r="r" b="b"/>
              <a:pathLst>
                <a:path w="1142998" h="2283116">
                  <a:moveTo>
                    <a:pt x="0" y="0"/>
                  </a:moveTo>
                  <a:lnTo>
                    <a:pt x="42668" y="0"/>
                  </a:lnTo>
                  <a:lnTo>
                    <a:pt x="149701" y="6942"/>
                  </a:lnTo>
                  <a:cubicBezTo>
                    <a:pt x="498515" y="52974"/>
                    <a:pt x="810171" y="258150"/>
                    <a:pt x="989247" y="567546"/>
                  </a:cubicBezTo>
                  <a:cubicBezTo>
                    <a:pt x="1193905" y="921141"/>
                    <a:pt x="1194271" y="1357084"/>
                    <a:pt x="990208" y="1711022"/>
                  </a:cubicBezTo>
                  <a:cubicBezTo>
                    <a:pt x="786145" y="2064960"/>
                    <a:pt x="408685" y="2283068"/>
                    <a:pt x="134" y="2283116"/>
                  </a:cubicBezTo>
                  <a:lnTo>
                    <a:pt x="0" y="1148771"/>
                  </a:lnTo>
                  <a:close/>
                </a:path>
              </a:pathLst>
            </a:cu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9906001" y="3429001"/>
              <a:ext cx="2285999" cy="2286000"/>
            </a:xfrm>
            <a:prstGeom prst="round1Rect">
              <a:avLst>
                <a:gd name="adj" fmla="val 50000"/>
              </a:avLst>
            </a:pr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476997" y="2286001"/>
              <a:ext cx="2285999" cy="2286000"/>
            </a:xfrm>
            <a:prstGeom prst="pie">
              <a:avLst>
                <a:gd name="adj1" fmla="val 0"/>
                <a:gd name="adj2" fmla="val 16188403"/>
              </a:avLst>
            </a:pr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1048999" y="2286001"/>
              <a:ext cx="1143000" cy="1143000"/>
            </a:xfrm>
            <a:prstGeom prst="ellipse">
              <a:avLst/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AutoShape 8"/>
            <p:cNvSpPr/>
            <p:nvPr/>
          </p:nvSpPr>
          <p:spPr>
            <a:xfrm flipV="1">
              <a:off x="11049000" y="5715000"/>
              <a:ext cx="1143000" cy="1143000"/>
            </a:xfrm>
            <a:prstGeom prst="teardrop">
              <a:avLst/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762997" y="1140117"/>
              <a:ext cx="2286000" cy="2288883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lnTo>
                    <a:pt x="2285709" y="1148768"/>
                  </a:lnTo>
                  <a:lnTo>
                    <a:pt x="2285999" y="1148768"/>
                  </a:lnTo>
                  <a:lnTo>
                    <a:pt x="2285999" y="2285999"/>
                  </a:lnTo>
                  <a:lnTo>
                    <a:pt x="1143020" y="2285999"/>
                  </a:lnTo>
                  <a:lnTo>
                    <a:pt x="1143000" y="2286000"/>
                  </a:lnTo>
                  <a:lnTo>
                    <a:pt x="1142980" y="2285999"/>
                  </a:lnTo>
                  <a:lnTo>
                    <a:pt x="0" y="2285999"/>
                  </a:lnTo>
                  <a:lnTo>
                    <a:pt x="0" y="1148768"/>
                  </a:lnTo>
                  <a:lnTo>
                    <a:pt x="291" y="1148768"/>
                  </a:lnTo>
                  <a:lnTo>
                    <a:pt x="0" y="1143000"/>
                  </a:ln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solidFill>
              <a:srgbClr val="FF595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619996" y="2286001"/>
              <a:ext cx="1143000" cy="1143000"/>
            </a:xfrm>
            <a:prstGeom prst="ellipse">
              <a:avLst/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1048999" y="1143001"/>
              <a:ext cx="1143000" cy="1143000"/>
            </a:xfrm>
            <a:prstGeom prst="round1Rect">
              <a:avLst>
                <a:gd name="adj" fmla="val 50000"/>
              </a:avLst>
            </a:pr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9906001" y="5715000"/>
              <a:ext cx="1143000" cy="1143000"/>
            </a:xfrm>
            <a:prstGeom prst="round1Rect">
              <a:avLst>
                <a:gd name="adj" fmla="val 50000"/>
              </a:avLst>
            </a:prstGeom>
            <a:solidFill>
              <a:srgbClr val="FF595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9906001" y="3429001"/>
              <a:ext cx="2285999" cy="2286000"/>
            </a:xfrm>
            <a:prstGeom prst="ellipse">
              <a:avLst/>
            </a:pr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AutoShape 14"/>
            <p:cNvSpPr/>
            <p:nvPr/>
          </p:nvSpPr>
          <p:spPr>
            <a:xfrm flipH="1">
              <a:off x="8762998" y="3429001"/>
              <a:ext cx="1143000" cy="1143000"/>
            </a:xfrm>
            <a:prstGeom prst="teardrop">
              <a:avLst/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1049000" y="2286001"/>
              <a:ext cx="1143000" cy="575520"/>
            </a:xfrm>
            <a:prstGeom prst="rect">
              <a:avLst/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AutoShape 16"/>
            <p:cNvSpPr/>
            <p:nvPr/>
          </p:nvSpPr>
          <p:spPr>
            <a:xfrm flipH="1" flipV="1">
              <a:off x="7619996" y="4572000"/>
              <a:ext cx="2285999" cy="2286000"/>
            </a:xfrm>
            <a:prstGeom prst="teardrop">
              <a:avLst/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769625" y="4060800"/>
              <a:ext cx="511178" cy="511200"/>
            </a:xfrm>
            <a:prstGeom prst="ellipse">
              <a:avLst/>
            </a:pr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762998" y="0"/>
              <a:ext cx="1143000" cy="1143000"/>
            </a:xfrm>
            <a:prstGeom prst="round1Rect">
              <a:avLst>
                <a:gd name="adj" fmla="val 50000"/>
              </a:avLst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9906001" y="0"/>
              <a:ext cx="1143000" cy="1143000"/>
            </a:xfrm>
            <a:prstGeom prst="teardrop">
              <a:avLst/>
            </a:pr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59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428999"/>
            <a:ext cx="3429005" cy="3429001"/>
            <a:chOff x="7619996" y="0"/>
            <a:chExt cx="3429005" cy="3429001"/>
          </a:xfrm>
        </p:grpSpPr>
        <p:sp>
          <p:nvSpPr>
            <p:cNvPr id="3" name="AutoShape 3"/>
            <p:cNvSpPr/>
            <p:nvPr/>
          </p:nvSpPr>
          <p:spPr>
            <a:xfrm>
              <a:off x="7619998" y="2"/>
              <a:ext cx="3428999" cy="3428999"/>
            </a:xfrm>
            <a:prstGeom prst="rect">
              <a:avLst/>
            </a:prstGeom>
            <a:solidFill>
              <a:srgbClr val="2657C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7619998" y="0"/>
              <a:ext cx="1142998" cy="2283116"/>
            </a:xfrm>
            <a:custGeom>
              <a:avLst/>
              <a:gdLst/>
              <a:ahLst/>
              <a:cxnLst/>
              <a:rect l="l" t="t" r="r" b="b"/>
              <a:pathLst>
                <a:path w="1142998" h="2283116">
                  <a:moveTo>
                    <a:pt x="0" y="0"/>
                  </a:moveTo>
                  <a:lnTo>
                    <a:pt x="42668" y="0"/>
                  </a:lnTo>
                  <a:lnTo>
                    <a:pt x="149701" y="6942"/>
                  </a:lnTo>
                  <a:cubicBezTo>
                    <a:pt x="498515" y="52974"/>
                    <a:pt x="810171" y="258150"/>
                    <a:pt x="989247" y="567546"/>
                  </a:cubicBezTo>
                  <a:cubicBezTo>
                    <a:pt x="1193905" y="921141"/>
                    <a:pt x="1194271" y="1357084"/>
                    <a:pt x="990208" y="1711022"/>
                  </a:cubicBezTo>
                  <a:cubicBezTo>
                    <a:pt x="786145" y="2064960"/>
                    <a:pt x="408685" y="2283068"/>
                    <a:pt x="134" y="2283116"/>
                  </a:cubicBezTo>
                  <a:lnTo>
                    <a:pt x="0" y="1148771"/>
                  </a:lnTo>
                  <a:close/>
                </a:path>
              </a:pathLst>
            </a:cu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8762997" y="1140117"/>
              <a:ext cx="2286000" cy="2288883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lnTo>
                    <a:pt x="2285709" y="1148768"/>
                  </a:lnTo>
                  <a:lnTo>
                    <a:pt x="2285999" y="1148768"/>
                  </a:lnTo>
                  <a:lnTo>
                    <a:pt x="2285999" y="2285999"/>
                  </a:lnTo>
                  <a:lnTo>
                    <a:pt x="1143020" y="2285999"/>
                  </a:lnTo>
                  <a:lnTo>
                    <a:pt x="1143000" y="2286000"/>
                  </a:lnTo>
                  <a:lnTo>
                    <a:pt x="1142980" y="2285999"/>
                  </a:lnTo>
                  <a:lnTo>
                    <a:pt x="0" y="2285999"/>
                  </a:lnTo>
                  <a:lnTo>
                    <a:pt x="0" y="1148768"/>
                  </a:lnTo>
                  <a:lnTo>
                    <a:pt x="291" y="1148768"/>
                  </a:lnTo>
                  <a:lnTo>
                    <a:pt x="0" y="1143000"/>
                  </a:ln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7619996" y="2286001"/>
              <a:ext cx="1143000" cy="1143000"/>
            </a:xfrm>
            <a:prstGeom prst="ellipse">
              <a:avLst/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8762998" y="0"/>
              <a:ext cx="1143000" cy="1143000"/>
            </a:xfrm>
            <a:prstGeom prst="round1Rect">
              <a:avLst>
                <a:gd name="adj" fmla="val 50000"/>
              </a:avLst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AutoShape 8"/>
            <p:cNvSpPr/>
            <p:nvPr/>
          </p:nvSpPr>
          <p:spPr>
            <a:xfrm flipV="1">
              <a:off x="9906001" y="0"/>
              <a:ext cx="1143000" cy="1143000"/>
            </a:xfrm>
            <a:prstGeom prst="teardrop">
              <a:avLst/>
            </a:pr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FFFFFF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alpha val="100000"/>
              <a:lumMod val="85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59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6997" y="2286001"/>
            <a:ext cx="5715003" cy="4571999"/>
            <a:chOff x="6476997" y="2286001"/>
            <a:chExt cx="5715003" cy="4571999"/>
          </a:xfrm>
        </p:grpSpPr>
        <p:sp>
          <p:nvSpPr>
            <p:cNvPr id="3" name="AutoShape 3"/>
            <p:cNvSpPr/>
            <p:nvPr/>
          </p:nvSpPr>
          <p:spPr>
            <a:xfrm>
              <a:off x="7619998" y="3429000"/>
              <a:ext cx="4572002" cy="3428999"/>
            </a:xfrm>
            <a:prstGeom prst="rect">
              <a:avLst/>
            </a:prstGeom>
            <a:solidFill>
              <a:srgbClr val="2657C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9906001" y="3429001"/>
              <a:ext cx="2285999" cy="2286000"/>
            </a:xfrm>
            <a:prstGeom prst="round1Rect">
              <a:avLst>
                <a:gd name="adj" fmla="val 50000"/>
              </a:avLst>
            </a:pr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476997" y="2286001"/>
              <a:ext cx="2285999" cy="2286000"/>
            </a:xfrm>
            <a:prstGeom prst="pie">
              <a:avLst>
                <a:gd name="adj1" fmla="val 0"/>
                <a:gd name="adj2" fmla="val 5417149"/>
              </a:avLst>
            </a:pr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11049000" y="5715000"/>
              <a:ext cx="1143000" cy="1143000"/>
            </a:xfrm>
            <a:prstGeom prst="teardrop">
              <a:avLst/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9906001" y="5715000"/>
              <a:ext cx="1143000" cy="1143000"/>
            </a:xfrm>
            <a:prstGeom prst="round1Rect">
              <a:avLst>
                <a:gd name="adj" fmla="val 50000"/>
              </a:avLst>
            </a:prstGeom>
            <a:solidFill>
              <a:srgbClr val="FF595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9906001" y="3429001"/>
              <a:ext cx="2285999" cy="2286000"/>
            </a:xfrm>
            <a:prstGeom prst="ellipse">
              <a:avLst/>
            </a:prstGeom>
            <a:solidFill>
              <a:srgbClr val="FFC34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AutoShape 9"/>
            <p:cNvSpPr/>
            <p:nvPr/>
          </p:nvSpPr>
          <p:spPr>
            <a:xfrm flipH="1">
              <a:off x="8762998" y="3429001"/>
              <a:ext cx="1143000" cy="1143000"/>
            </a:xfrm>
            <a:prstGeom prst="teardrop">
              <a:avLst/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AutoShape 10"/>
            <p:cNvSpPr/>
            <p:nvPr/>
          </p:nvSpPr>
          <p:spPr>
            <a:xfrm flipH="1" flipV="1">
              <a:off x="7619996" y="4572000"/>
              <a:ext cx="2285999" cy="2286000"/>
            </a:xfrm>
            <a:prstGeom prst="teardrop">
              <a:avLst/>
            </a:prstGeom>
            <a:solidFill>
              <a:srgbClr val="5BA3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578587"/>
            <a:ext cx="6210300" cy="207988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5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 Multimodal Approach to Cantonese SER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73542" y="4316132"/>
            <a:ext cx="4741462" cy="50870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Bridging Acoustic and Linguistic Cues with Cross-Modal Attention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0" y="5586374"/>
            <a:ext cx="451788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1400" b="0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Li </a:t>
            </a:r>
            <a:r>
              <a:rPr lang="en-US" altLang="zh-CN" sz="14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Junyan</a:t>
            </a:r>
            <a:endParaRPr lang="en-US" sz="1400" dirty="0"/>
          </a:p>
        </p:txBody>
      </p:sp>
      <p:sp>
        <p:nvSpPr>
          <p:cNvPr id="5" name="TextBox 5"/>
          <p:cNvSpPr txBox="1"/>
          <p:nvPr/>
        </p:nvSpPr>
        <p:spPr>
          <a:xfrm>
            <a:off x="660398" y="5859780"/>
            <a:ext cx="451788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2026.3.24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da485e2-67b6-4500-ab80-d6e597cfb465"/>
          <p:cNvGrpSpPr/>
          <p:nvPr/>
        </p:nvGrpSpPr>
        <p:grpSpPr>
          <a:xfrm>
            <a:off x="673099" y="1130300"/>
            <a:ext cx="11192469" cy="5410688"/>
            <a:chOff x="673099" y="1130300"/>
            <a:chExt cx="11192469" cy="5410688"/>
          </a:xfrm>
        </p:grpSpPr>
        <p:sp>
          <p:nvSpPr>
            <p:cNvPr id="3" name="AutoShape 3"/>
            <p:cNvSpPr/>
            <p:nvPr/>
          </p:nvSpPr>
          <p:spPr>
            <a:xfrm>
              <a:off x="6869987" y="1130300"/>
              <a:ext cx="4648913" cy="5461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 flipH="1">
              <a:off x="11522397" y="6134100"/>
              <a:ext cx="343171" cy="406888"/>
            </a:xfrm>
            <a:custGeom>
              <a:avLst/>
              <a:gdLst/>
              <a:ahLst/>
              <a:cxnLst/>
              <a:rect l="l" t="t" r="r" b="b"/>
              <a:pathLst>
                <a:path w="609439" h="579272">
                  <a:moveTo>
                    <a:pt x="304595" y="420570"/>
                  </a:moveTo>
                  <a:cubicBezTo>
                    <a:pt x="309021" y="420570"/>
                    <a:pt x="313447" y="422043"/>
                    <a:pt x="317135" y="425725"/>
                  </a:cubicBezTo>
                  <a:lnTo>
                    <a:pt x="351802" y="461442"/>
                  </a:lnTo>
                  <a:lnTo>
                    <a:pt x="435153" y="549446"/>
                  </a:lnTo>
                  <a:cubicBezTo>
                    <a:pt x="445848" y="560493"/>
                    <a:pt x="438103" y="579272"/>
                    <a:pt x="422613" y="579272"/>
                  </a:cubicBezTo>
                  <a:lnTo>
                    <a:pt x="186577" y="579272"/>
                  </a:lnTo>
                  <a:cubicBezTo>
                    <a:pt x="171825" y="579272"/>
                    <a:pt x="164080" y="560125"/>
                    <a:pt x="174407" y="549446"/>
                  </a:cubicBezTo>
                  <a:lnTo>
                    <a:pt x="258126" y="461442"/>
                  </a:lnTo>
                  <a:lnTo>
                    <a:pt x="292425" y="425725"/>
                  </a:lnTo>
                  <a:cubicBezTo>
                    <a:pt x="295744" y="422043"/>
                    <a:pt x="300170" y="420570"/>
                    <a:pt x="304595" y="420570"/>
                  </a:cubicBezTo>
                  <a:close/>
                  <a:moveTo>
                    <a:pt x="110610" y="309359"/>
                  </a:moveTo>
                  <a:lnTo>
                    <a:pt x="498964" y="309359"/>
                  </a:lnTo>
                  <a:cubicBezTo>
                    <a:pt x="508184" y="309359"/>
                    <a:pt x="517773" y="312305"/>
                    <a:pt x="524042" y="319669"/>
                  </a:cubicBezTo>
                  <a:lnTo>
                    <a:pt x="601123" y="406934"/>
                  </a:lnTo>
                  <a:cubicBezTo>
                    <a:pt x="619932" y="427921"/>
                    <a:pt x="604811" y="461428"/>
                    <a:pt x="576044" y="461428"/>
                  </a:cubicBezTo>
                  <a:lnTo>
                    <a:pt x="419670" y="461428"/>
                  </a:lnTo>
                  <a:lnTo>
                    <a:pt x="352916" y="391837"/>
                  </a:lnTo>
                  <a:cubicBezTo>
                    <a:pt x="340008" y="378950"/>
                    <a:pt x="323043" y="371586"/>
                    <a:pt x="304603" y="371586"/>
                  </a:cubicBezTo>
                  <a:cubicBezTo>
                    <a:pt x="286531" y="371586"/>
                    <a:pt x="268828" y="378582"/>
                    <a:pt x="256658" y="391837"/>
                  </a:cubicBezTo>
                  <a:lnTo>
                    <a:pt x="189535" y="461428"/>
                  </a:lnTo>
                  <a:lnTo>
                    <a:pt x="33161" y="461428"/>
                  </a:lnTo>
                  <a:cubicBezTo>
                    <a:pt x="4763" y="461428"/>
                    <a:pt x="-10358" y="429026"/>
                    <a:pt x="8082" y="407302"/>
                  </a:cubicBezTo>
                  <a:lnTo>
                    <a:pt x="85532" y="319669"/>
                  </a:lnTo>
                  <a:cubicBezTo>
                    <a:pt x="91801" y="312305"/>
                    <a:pt x="100653" y="309359"/>
                    <a:pt x="110610" y="309359"/>
                  </a:cubicBezTo>
                  <a:close/>
                  <a:moveTo>
                    <a:pt x="33161" y="117844"/>
                  </a:moveTo>
                  <a:lnTo>
                    <a:pt x="189535" y="117844"/>
                  </a:lnTo>
                  <a:lnTo>
                    <a:pt x="256658" y="187435"/>
                  </a:lnTo>
                  <a:cubicBezTo>
                    <a:pt x="269197" y="200322"/>
                    <a:pt x="286531" y="207686"/>
                    <a:pt x="304603" y="207686"/>
                  </a:cubicBezTo>
                  <a:cubicBezTo>
                    <a:pt x="323043" y="207686"/>
                    <a:pt x="340746" y="200690"/>
                    <a:pt x="352916" y="187435"/>
                  </a:cubicBezTo>
                  <a:lnTo>
                    <a:pt x="419670" y="117844"/>
                  </a:lnTo>
                  <a:lnTo>
                    <a:pt x="576044" y="117844"/>
                  </a:lnTo>
                  <a:cubicBezTo>
                    <a:pt x="604811" y="117844"/>
                    <a:pt x="619932" y="150246"/>
                    <a:pt x="601123" y="171602"/>
                  </a:cubicBezTo>
                  <a:lnTo>
                    <a:pt x="524042" y="259603"/>
                  </a:lnTo>
                  <a:cubicBezTo>
                    <a:pt x="517773" y="266967"/>
                    <a:pt x="508921" y="269913"/>
                    <a:pt x="498964" y="269913"/>
                  </a:cubicBezTo>
                  <a:lnTo>
                    <a:pt x="110610" y="269913"/>
                  </a:lnTo>
                  <a:cubicBezTo>
                    <a:pt x="101022" y="269913"/>
                    <a:pt x="91801" y="266967"/>
                    <a:pt x="85532" y="259603"/>
                  </a:cubicBezTo>
                  <a:lnTo>
                    <a:pt x="8082" y="171602"/>
                  </a:lnTo>
                  <a:cubicBezTo>
                    <a:pt x="-10358" y="150246"/>
                    <a:pt x="4763" y="117844"/>
                    <a:pt x="33161" y="117844"/>
                  </a:cubicBezTo>
                  <a:close/>
                  <a:moveTo>
                    <a:pt x="186592" y="0"/>
                  </a:moveTo>
                  <a:lnTo>
                    <a:pt x="422614" y="0"/>
                  </a:lnTo>
                  <a:cubicBezTo>
                    <a:pt x="438103" y="0"/>
                    <a:pt x="445847" y="18413"/>
                    <a:pt x="435152" y="29829"/>
                  </a:cubicBezTo>
                  <a:lnTo>
                    <a:pt x="351438" y="117841"/>
                  </a:lnTo>
                  <a:lnTo>
                    <a:pt x="317141" y="153562"/>
                  </a:lnTo>
                  <a:cubicBezTo>
                    <a:pt x="313453" y="156876"/>
                    <a:pt x="309028" y="158349"/>
                    <a:pt x="304603" y="158349"/>
                  </a:cubicBezTo>
                  <a:cubicBezTo>
                    <a:pt x="300177" y="158349"/>
                    <a:pt x="295752" y="156876"/>
                    <a:pt x="292433" y="153562"/>
                  </a:cubicBezTo>
                  <a:lnTo>
                    <a:pt x="258136" y="117841"/>
                  </a:lnTo>
                  <a:lnTo>
                    <a:pt x="174422" y="29829"/>
                  </a:lnTo>
                  <a:cubicBezTo>
                    <a:pt x="163727" y="18413"/>
                    <a:pt x="171471" y="0"/>
                    <a:pt x="186592" y="0"/>
                  </a:cubicBezTo>
                  <a:close/>
                </a:path>
              </a:pathLst>
            </a:custGeom>
            <a:solidFill>
              <a:srgbClr val="2657C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 flipH="1">
              <a:off x="9745133" y="6337544"/>
              <a:ext cx="1590422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 flipH="1">
              <a:off x="10718274" y="6337544"/>
              <a:ext cx="617281" cy="0"/>
            </a:xfrm>
            <a:prstGeom prst="line">
              <a:avLst/>
            </a:prstGeom>
            <a:ln w="381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673099" y="1130300"/>
              <a:ext cx="5761567" cy="5003800"/>
            </a:xfrm>
            <a:custGeom>
              <a:avLst/>
              <a:gdLst/>
              <a:ahLst/>
              <a:cxnLst/>
              <a:rect l="l" t="t" r="r" b="b"/>
              <a:pathLst>
                <a:path w="6642100" h="4559300">
                  <a:moveTo>
                    <a:pt x="0" y="0"/>
                  </a:moveTo>
                  <a:lnTo>
                    <a:pt x="6642100" y="0"/>
                  </a:lnTo>
                  <a:lnTo>
                    <a:pt x="6642100" y="4559300"/>
                  </a:lnTo>
                  <a:lnTo>
                    <a:pt x="0" y="4559300"/>
                  </a:lnTo>
                  <a:close/>
                </a:path>
              </a:pathLst>
            </a:custGeom>
            <a:blipFill rotWithShape="1">
              <a:blip r:embed="rId2">
                <a:alphaModFix/>
                <a:alphaModFix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869988" y="1862771"/>
              <a:ext cx="4648912" cy="1011540"/>
              <a:chOff x="6869988" y="1862771"/>
              <a:chExt cx="4648912" cy="101154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7795683" y="1862773"/>
                <a:ext cx="3723217" cy="10115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Introduction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869988" y="1862771"/>
                <a:ext cx="925695" cy="9778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3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01.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6869988" y="3492668"/>
              <a:ext cx="4648912" cy="1011538"/>
              <a:chOff x="6869988" y="2949369"/>
              <a:chExt cx="4648912" cy="101153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795683" y="2949369"/>
                <a:ext cx="3723217" cy="10115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Literature Review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869988" y="2949369"/>
                <a:ext cx="925695" cy="9778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3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02.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869988" y="5122562"/>
              <a:ext cx="4648912" cy="1011538"/>
              <a:chOff x="6869988" y="5122562"/>
              <a:chExt cx="4648912" cy="1011538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795683" y="5122562"/>
                <a:ext cx="3723217" cy="10115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Methodology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869988" y="5122563"/>
                <a:ext cx="925695" cy="9778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3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03.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76950" y="2441601"/>
            <a:ext cx="5435600" cy="9873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Introduction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83300" y="3429000"/>
            <a:ext cx="5435600" cy="113415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 project addresses the critical gap in Speech Emotion Recognition (SER) for Cantonese, a tonal language where emotion is deeply intertwined with linguistic and cultural nuances.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7e1e19d-be3e-489c-a2ec-c3292cf08ada"/>
          <p:cNvGrpSpPr/>
          <p:nvPr/>
        </p:nvGrpSpPr>
        <p:grpSpPr>
          <a:xfrm>
            <a:off x="658812" y="1130300"/>
            <a:ext cx="10874376" cy="5013324"/>
            <a:chOff x="658812" y="1130300"/>
            <a:chExt cx="10874376" cy="5013324"/>
          </a:xfrm>
        </p:grpSpPr>
        <p:sp>
          <p:nvSpPr>
            <p:cNvPr id="3" name="TextBox 3"/>
            <p:cNvSpPr txBox="1"/>
            <p:nvPr/>
          </p:nvSpPr>
          <p:spPr>
            <a:xfrm>
              <a:off x="658812" y="1130300"/>
              <a:ext cx="10874376" cy="95912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The Need for Culturally-Aware SER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9925" y="2262554"/>
              <a:ext cx="10850563" cy="3881070"/>
              <a:chOff x="669925" y="2262554"/>
              <a:chExt cx="10850563" cy="3881070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669925" y="2262554"/>
                <a:ext cx="1301115" cy="1178272"/>
              </a:xfrm>
              <a:prstGeom prst="roundRect">
                <a:avLst>
                  <a:gd name="adj" fmla="val 0"/>
                </a:avLst>
              </a:prstGeom>
              <a:solidFill>
                <a:srgbClr val="FF5954">
                  <a:alpha val="100000"/>
                </a:srgbClr>
              </a:solidFill>
              <a:ln>
                <a:solidFill>
                  <a:srgbClr val="FFFFFF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0000" tIns="46800" rIns="90000" bIns="36000" rtlCol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2148840" y="2262555"/>
                <a:ext cx="9371648" cy="1178272"/>
                <a:chOff x="3486000" y="2262555"/>
                <a:chExt cx="8034488" cy="1178272"/>
              </a:xfrm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3486000" y="2262555"/>
                  <a:ext cx="8034488" cy="1178272"/>
                </a:xfrm>
                <a:prstGeom prst="rect">
                  <a:avLst/>
                </a:prstGeom>
                <a:ln w="12700">
                  <a:solidFill>
                    <a:srgbClr val="2657CE">
                      <a:alpha val="50196"/>
                      <a:lumMod val="100000"/>
                    </a:srgbClr>
                  </a:solidFill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3621506" y="2796637"/>
                  <a:ext cx="7435516" cy="60198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Emotionally aware voice interaction is central to natural and efficient human-computer interfaces, enhancing user experience in intelligent devices.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3621506" y="2313133"/>
                  <a:ext cx="7435516" cy="483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Human-Computer Interaction</a:t>
                  </a:r>
                  <a:endParaRPr lang="en-US" sz="1100"/>
                </a:p>
              </p:txBody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669925" y="3613953"/>
                <a:ext cx="1301115" cy="1178272"/>
              </a:xfrm>
              <a:prstGeom prst="roundRect">
                <a:avLst>
                  <a:gd name="adj" fmla="val 0"/>
                </a:avLst>
              </a:prstGeom>
              <a:solidFill>
                <a:srgbClr val="FF5954">
                  <a:alpha val="100000"/>
                </a:srgbClr>
              </a:solidFill>
              <a:ln>
                <a:solidFill>
                  <a:srgbClr val="FFFFFF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0000" tIns="46800" rIns="90000" bIns="36000" rtlCol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>
                <a:off x="2148840" y="3613953"/>
                <a:ext cx="9371648" cy="1178272"/>
                <a:chOff x="3486000" y="3613953"/>
                <a:chExt cx="8034488" cy="1178272"/>
              </a:xfrm>
            </p:grpSpPr>
            <p:sp>
              <p:nvSpPr>
                <p:cNvPr id="12" name="AutoShape 12"/>
                <p:cNvSpPr/>
                <p:nvPr/>
              </p:nvSpPr>
              <p:spPr>
                <a:xfrm>
                  <a:off x="3486000" y="3613953"/>
                  <a:ext cx="8034488" cy="1178272"/>
                </a:xfrm>
                <a:prstGeom prst="rect">
                  <a:avLst/>
                </a:prstGeom>
                <a:ln w="12700">
                  <a:solidFill>
                    <a:srgbClr val="2657CE">
                      <a:alpha val="50196"/>
                      <a:lumMod val="100000"/>
                    </a:srgbClr>
                  </a:solidFill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3621506" y="4115406"/>
                  <a:ext cx="7435516" cy="60198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SER is a core technology in affective computing, aiming to automatically infer a speaker's emotional state from acoustic and prosodic features.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621506" y="3631902"/>
                  <a:ext cx="7435516" cy="483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Affective Computing Core</a:t>
                  </a:r>
                  <a:endParaRPr lang="en-US" sz="1100"/>
                </a:p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669925" y="4965352"/>
                <a:ext cx="1301115" cy="1178272"/>
              </a:xfrm>
              <a:prstGeom prst="roundRect">
                <a:avLst>
                  <a:gd name="adj" fmla="val 0"/>
                </a:avLst>
              </a:prstGeom>
              <a:solidFill>
                <a:srgbClr val="FF5954">
                  <a:alpha val="100000"/>
                </a:srgbClr>
              </a:solidFill>
              <a:ln>
                <a:solidFill>
                  <a:srgbClr val="FFFFFF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0000" tIns="46800" rIns="90000" bIns="36000" rtlCol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2148840" y="4965351"/>
                <a:ext cx="9371648" cy="1178272"/>
                <a:chOff x="3486000" y="4965351"/>
                <a:chExt cx="8034488" cy="1178272"/>
              </a:xfrm>
            </p:grpSpPr>
            <p:sp>
              <p:nvSpPr>
                <p:cNvPr id="17" name="AutoShape 17"/>
                <p:cNvSpPr/>
                <p:nvPr/>
              </p:nvSpPr>
              <p:spPr>
                <a:xfrm>
                  <a:off x="3486000" y="4965351"/>
                  <a:ext cx="8034488" cy="1178272"/>
                </a:xfrm>
                <a:prstGeom prst="rect">
                  <a:avLst/>
                </a:prstGeom>
                <a:ln w="12700">
                  <a:solidFill>
                    <a:srgbClr val="2657CE">
                      <a:alpha val="50196"/>
                      <a:lumMod val="100000"/>
                    </a:srgbClr>
                  </a:solidFill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621506" y="5497989"/>
                  <a:ext cx="7435516" cy="60198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Cantonese emotion expression is deeply intertwined with tone perturbation, sentence-final particles, and context-driven prosody, rendering generic models less effective.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621506" y="5014485"/>
                  <a:ext cx="7435516" cy="483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The unique challenges of Cantonese</a:t>
                  </a:r>
                  <a:endParaRPr lang="en-US" sz="1100"/>
                </a:p>
              </p:txBody>
            </p:sp>
          </p:grp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 Background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87eec33-e0b8-4fdf-ae9f-d503b5ccd190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>
              <a:off x="660400" y="1130300"/>
              <a:ext cx="10858500" cy="5003800"/>
            </a:xfrm>
            <a:prstGeom prst="roundRect">
              <a:avLst>
                <a:gd name="adj" fmla="val 4421"/>
              </a:avLst>
            </a:prstGeom>
            <a:solidFill>
              <a:srgbClr val="FF595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9651" y="1348831"/>
              <a:ext cx="10080000" cy="9720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Two Primary Objectives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1049651" y="2704311"/>
              <a:ext cx="9900000" cy="1370083"/>
              <a:chOff x="1726307" y="2053635"/>
              <a:chExt cx="9900000" cy="828001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726307" y="2281212"/>
                <a:ext cx="648000" cy="391615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5954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651074" y="2053636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Create a multimodal acoustic-text fusion framework that leverages ground-truth transcripts and pretrained Cantonese language models to complement deep acoustic modeling.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626494" y="2053635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Develop a Multimodal Framework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049651" y="4395714"/>
              <a:ext cx="9900000" cy="1370081"/>
              <a:chOff x="1726307" y="3057001"/>
              <a:chExt cx="9900000" cy="82800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726307" y="3284578"/>
                <a:ext cx="648000" cy="391615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5954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651074" y="3057001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Perform the first systematic evaluation of hybrid architectures (CNN-BiLSTM + Cross-Modal Attention) on a real-world Cantonese emotional speech dataset.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626494" y="3057001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Conduct First Systematic Evaluation</a:t>
                </a:r>
                <a:endParaRPr lang="en-US" sz="1100"/>
              </a:p>
            </p:txBody>
          </p:sp>
        </p:grpSp>
        <p:sp>
          <p:nvSpPr>
            <p:cNvPr id="13" name="AutoShape 13"/>
            <p:cNvSpPr/>
            <p:nvPr/>
          </p:nvSpPr>
          <p:spPr>
            <a:xfrm>
              <a:off x="1229651" y="2512571"/>
              <a:ext cx="9720000" cy="0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229651" y="4235053"/>
              <a:ext cx="9720000" cy="0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 Aim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76950" y="2441601"/>
            <a:ext cx="5435600" cy="9873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Literature Review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83300" y="3429000"/>
            <a:ext cx="5435600" cy="113415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 situate our work at the intersection of deep learning for SER and the unique challenges of tonal languages, identifying a significant gap in existing research.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6e18ec2-eb76-4b5a-afc5-9bbcf3ed8bbf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3" name="Group 3"/>
            <p:cNvGrpSpPr/>
            <p:nvPr/>
          </p:nvGrpSpPr>
          <p:grpSpPr>
            <a:xfrm>
              <a:off x="660400" y="2861422"/>
              <a:ext cx="3385345" cy="3272678"/>
              <a:chOff x="660399" y="2851439"/>
              <a:chExt cx="3560233" cy="3441745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767993" y="3448339"/>
                <a:ext cx="3452639" cy="49892"/>
              </a:xfrm>
              <a:prstGeom prst="rect">
                <a:avLst/>
              </a:prstGeom>
              <a:solidFill>
                <a:srgbClr val="FF595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660400" y="2851439"/>
                <a:ext cx="596900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321346" y="2851439"/>
                <a:ext cx="2899286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Early Work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399" y="3498230"/>
                <a:ext cx="3560233" cy="279495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Since the 1970s, SER has evolved from handcrafted feature engineering, with Williams et al. first identifying the correlation between pitch contours and emotional states.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403016" y="2861422"/>
              <a:ext cx="3385345" cy="3272678"/>
              <a:chOff x="660399" y="2851439"/>
              <a:chExt cx="3560233" cy="3441745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767993" y="3448339"/>
                <a:ext cx="3452639" cy="49892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2851439"/>
                <a:ext cx="596900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21346" y="2851439"/>
                <a:ext cx="2899286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Deep Learning Advances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60399" y="3498230"/>
                <a:ext cx="3560233" cy="279495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Recent advances, particularly CNNs, RNNs, and Transformers, have significantly improved SER performance in major languages like English and Mandarin.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133555" y="2861422"/>
              <a:ext cx="3385345" cy="3272678"/>
              <a:chOff x="660399" y="2851439"/>
              <a:chExt cx="3560233" cy="3441745"/>
            </a:xfrm>
          </p:grpSpPr>
          <p:sp>
            <p:nvSpPr>
              <p:cNvPr id="14" name="AutoShape 14"/>
              <p:cNvSpPr/>
              <p:nvPr/>
            </p:nvSpPr>
            <p:spPr>
              <a:xfrm>
                <a:off x="767993" y="3448339"/>
                <a:ext cx="3452639" cy="49892"/>
              </a:xfrm>
              <a:prstGeom prst="rect">
                <a:avLst/>
              </a:prstGeom>
              <a:solidFill>
                <a:srgbClr val="FF595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60400" y="2851439"/>
                <a:ext cx="596900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21346" y="2851439"/>
                <a:ext cx="2899286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Limitations in Tonal Contexts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60399" y="3498230"/>
                <a:ext cx="3560233" cy="279495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However, these models often overlook emotion cues embedded in linguistic content, which is critical in tonal languages like Cantonese.</a:t>
                </a:r>
                <a:endParaRPr lang="en-US" sz="110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60399" y="1130300"/>
              <a:ext cx="10858500" cy="98098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From Handcrafted Features to Deep Learning</a:t>
              </a:r>
              <a:endParaRPr lang="en-US" sz="110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Evolution of SER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356ab36-ad21-4b52-acc5-2f4f62c41ea5"/>
          <p:cNvGrpSpPr/>
          <p:nvPr/>
        </p:nvGrpSpPr>
        <p:grpSpPr>
          <a:xfrm>
            <a:off x="660399" y="1130302"/>
            <a:ext cx="10858500" cy="5003799"/>
            <a:chOff x="660399" y="1130302"/>
            <a:chExt cx="10858500" cy="5003799"/>
          </a:xfrm>
        </p:grpSpPr>
        <p:sp>
          <p:nvSpPr>
            <p:cNvPr id="3" name="AutoShape 3"/>
            <p:cNvSpPr/>
            <p:nvPr/>
          </p:nvSpPr>
          <p:spPr>
            <a:xfrm>
              <a:off x="4285985" y="1879600"/>
              <a:ext cx="3608732" cy="4254500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FF5954">
                  <a:alpha val="100000"/>
                </a:srgbClr>
              </a:solidFill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 flipH="1">
              <a:off x="660399" y="1130302"/>
              <a:ext cx="10858500" cy="550188"/>
            </a:xfrm>
            <a:prstGeom prst="rect">
              <a:avLst/>
            </a:prstGeom>
            <a:solidFill>
              <a:srgbClr val="FF5954">
                <a:alpha val="94901"/>
                <a:lumMod val="75000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 Linguistically Unique Setting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795678" y="2078276"/>
              <a:ext cx="3414372" cy="4055825"/>
              <a:chOff x="795678" y="2078276"/>
              <a:chExt cx="3414372" cy="405582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903596" y="2078276"/>
                <a:ext cx="381600" cy="382702"/>
              </a:xfrm>
              <a:prstGeom prst="rect">
                <a:avLst/>
              </a:prstGeom>
              <a:ln w="12700">
                <a:solidFill>
                  <a:srgbClr val="FF5954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95678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Lack of Research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95678" y="3693161"/>
                <a:ext cx="3414372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Compared to Mandarin and English, research on Cantonese SER remains largely underexplored, despite it being a major dialect spoken by over 80 million people.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385609" y="2078276"/>
              <a:ext cx="3414372" cy="4055825"/>
              <a:chOff x="4385609" y="2078276"/>
              <a:chExt cx="3414372" cy="405582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4495148" y="2078276"/>
                <a:ext cx="381600" cy="382702"/>
              </a:xfrm>
              <a:prstGeom prst="rect">
                <a:avLst/>
              </a:prstGeom>
              <a:ln w="12700">
                <a:solidFill>
                  <a:srgbClr val="FF5954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385609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Insufficient Data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85609" y="3693161"/>
                <a:ext cx="3414372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Publicly available, well-annotated Cantonese emotional speech corpora are scarce, hindering the development of data-driven models.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7975541" y="2078276"/>
              <a:ext cx="3414372" cy="4055825"/>
              <a:chOff x="7975541" y="2078276"/>
              <a:chExt cx="3414372" cy="4055825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8085080" y="2078276"/>
                <a:ext cx="381600" cy="382702"/>
              </a:xfrm>
              <a:prstGeom prst="rect">
                <a:avLst/>
              </a:prstGeom>
              <a:ln w="12700">
                <a:solidFill>
                  <a:srgbClr val="FF5954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75541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No Systematic Evaluation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75541" y="3693161"/>
                <a:ext cx="3414372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There is a lack of systematic evaluation of state-of-the-art models in this domain, creating a barrier for culturally adaptive affective technologies.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Gap in Cantonese SER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4475509-f323-4d47-be97-dfe446b8ef2c"/>
          <p:cNvGrpSpPr/>
          <p:nvPr/>
        </p:nvGrpSpPr>
        <p:grpSpPr>
          <a:xfrm>
            <a:off x="660399" y="1130301"/>
            <a:ext cx="10858501" cy="5105399"/>
            <a:chOff x="660399" y="1130301"/>
            <a:chExt cx="10858501" cy="5105399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lnSpc>
                  <a:spcPct val="108000"/>
                </a:lnSpc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Introducing Cross-Modal Attention for Cantonese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1711961"/>
              <a:ext cx="3161058" cy="4523739"/>
              <a:chOff x="660400" y="1711961"/>
              <a:chExt cx="3161058" cy="4523739"/>
            </a:xfrm>
          </p:grpSpPr>
          <p:grpSp>
            <p:nvGrpSpPr>
              <p:cNvPr id="5" name="Group 5"/>
              <p:cNvGrpSpPr/>
              <p:nvPr/>
            </p:nvGrpSpPr>
            <p:grpSpPr>
              <a:xfrm>
                <a:off x="660400" y="1711961"/>
                <a:ext cx="3161058" cy="4523739"/>
                <a:chOff x="660400" y="1610361"/>
                <a:chExt cx="3161058" cy="4523739"/>
              </a:xfrm>
            </p:grpSpPr>
            <p:sp>
              <p:nvSpPr>
                <p:cNvPr id="6" name="AutoShape 6"/>
                <p:cNvSpPr/>
                <p:nvPr/>
              </p:nvSpPr>
              <p:spPr>
                <a:xfrm>
                  <a:off x="660400" y="1868557"/>
                  <a:ext cx="3161058" cy="4265543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2657CE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1890575" y="1610361"/>
                  <a:ext cx="700709" cy="700709"/>
                </a:xfrm>
                <a:prstGeom prst="ellipse">
                  <a:avLst/>
                </a:prstGeom>
                <a:solidFill>
                  <a:srgbClr val="FF5954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833161" y="2514271"/>
                <a:ext cx="2815536" cy="7007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Multimodal Fusion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33161" y="3214981"/>
                <a:ext cx="2815536" cy="278825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We address the limitations of single-modality models by fusing acoustic and textual information, capturing both "what is said" and "how it is said".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509121" y="1711961"/>
              <a:ext cx="3161058" cy="4523739"/>
              <a:chOff x="4509121" y="1711961"/>
              <a:chExt cx="3161058" cy="4523739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4509121" y="1711961"/>
                <a:ext cx="3161058" cy="4523739"/>
                <a:chOff x="660400" y="1610361"/>
                <a:chExt cx="3161058" cy="4523739"/>
              </a:xfrm>
            </p:grpSpPr>
            <p:sp>
              <p:nvSpPr>
                <p:cNvPr id="12" name="AutoShape 12"/>
                <p:cNvSpPr/>
                <p:nvPr/>
              </p:nvSpPr>
              <p:spPr>
                <a:xfrm>
                  <a:off x="660400" y="1868557"/>
                  <a:ext cx="3161058" cy="4265543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2657CE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890575" y="1610361"/>
                  <a:ext cx="700709" cy="700709"/>
                </a:xfrm>
                <a:prstGeom prst="ellipse">
                  <a:avLst/>
                </a:prstGeom>
                <a:solidFill>
                  <a:srgbClr val="FF5954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4681882" y="2514271"/>
                <a:ext cx="2815536" cy="7007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Cross-Modal Attention (CMA)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81882" y="3214981"/>
                <a:ext cx="2815536" cy="278825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Our approach, inspired by Krishna and Patil (2020), uses CMA to dynamically align acoustic and textual representations, which is crucial for capturing tone-based emotions.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357842" y="1711961"/>
              <a:ext cx="3161058" cy="4523739"/>
              <a:chOff x="8357842" y="1711961"/>
              <a:chExt cx="3161058" cy="4523739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8357842" y="1711961"/>
                <a:ext cx="3161058" cy="4523739"/>
                <a:chOff x="660400" y="1610361"/>
                <a:chExt cx="3161058" cy="4523739"/>
              </a:xfrm>
            </p:grpSpPr>
            <p:sp>
              <p:nvSpPr>
                <p:cNvPr id="18" name="AutoShape 18"/>
                <p:cNvSpPr/>
                <p:nvPr/>
              </p:nvSpPr>
              <p:spPr>
                <a:xfrm>
                  <a:off x="660400" y="1868557"/>
                  <a:ext cx="3161058" cy="4265543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2657CE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890575" y="1610361"/>
                  <a:ext cx="700709" cy="700709"/>
                </a:xfrm>
                <a:prstGeom prst="ellipse">
                  <a:avLst/>
                </a:prstGeom>
                <a:solidFill>
                  <a:srgbClr val="FF5954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8530603" y="2514271"/>
                <a:ext cx="2815536" cy="7007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Linguistic Grounding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530603" y="3214981"/>
                <a:ext cx="2815536" cy="278825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By using ground-truth transcripts and Cantonese-BERT, we ensure the text modality is linguistically grounded, providing rich semantic cues.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 Key Innovation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76950" y="2441601"/>
            <a:ext cx="5435600" cy="9873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Methodology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83300" y="3429000"/>
            <a:ext cx="5435600" cy="113415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 methodology comprises three core components: data preprocessing, model development with a dual-track approach, and systematic evaluation.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29175d5-1f01-46e5-8048-212dccb33a18"/>
          <p:cNvGrpSpPr/>
          <p:nvPr/>
        </p:nvGrpSpPr>
        <p:grpSpPr>
          <a:xfrm>
            <a:off x="660400" y="1130300"/>
            <a:ext cx="10858500" cy="5003800"/>
            <a:chOff x="660400" y="978358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978358"/>
              <a:ext cx="10858500" cy="79973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Enhancing Robustness and Balance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2121877"/>
              <a:ext cx="3420000" cy="3860281"/>
              <a:chOff x="886103" y="3793645"/>
              <a:chExt cx="3420000" cy="399570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886103" y="3793645"/>
                <a:ext cx="3420000" cy="3995700"/>
              </a:xfrm>
              <a:prstGeom prst="roundRect">
                <a:avLst>
                  <a:gd name="adj" fmla="val 4512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66103" y="3950218"/>
                <a:ext cx="2340000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Speed Perturbation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78804" y="4670219"/>
                <a:ext cx="3060000" cy="297088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Generate additional samples at 0.9× and 1.1× original speed using `sox` to simulate different speaking rates while preserving pitch.</a:t>
                </a:r>
                <a:endParaRPr lang="en-US" sz="1100"/>
              </a:p>
            </p:txBody>
          </p:sp>
          <p:sp>
            <p:nvSpPr>
              <p:cNvPr id="8" name="AutoShape 8"/>
              <p:cNvSpPr/>
              <p:nvPr/>
            </p:nvSpPr>
            <p:spPr>
              <a:xfrm rot="10800000">
                <a:off x="3477911" y="3793646"/>
                <a:ext cx="576000" cy="576000"/>
              </a:xfrm>
              <a:prstGeom prst="round2SameRect">
                <a:avLst/>
              </a:prstGeom>
              <a:solidFill>
                <a:srgbClr val="FF595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521786" y="3862327"/>
                <a:ext cx="488250" cy="43304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600" b="1" i="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386000" y="2121877"/>
              <a:ext cx="3420000" cy="3860281"/>
              <a:chOff x="4541650" y="3793645"/>
              <a:chExt cx="3420000" cy="39957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541650" y="3793645"/>
                <a:ext cx="3420000" cy="3995700"/>
              </a:xfrm>
              <a:prstGeom prst="roundRect">
                <a:avLst>
                  <a:gd name="adj" fmla="val 4512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721650" y="3950218"/>
                <a:ext cx="2340000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Volume Perturbation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34351" y="4670220"/>
                <a:ext cx="3060000" cy="297088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Randomly scale audio amplitude within [0.5, 1.5] to simulate real-world recording variations and improve model robustness.</a:t>
                </a:r>
                <a:endParaRPr lang="en-US" sz="1100"/>
              </a:p>
            </p:txBody>
          </p:sp>
          <p:sp>
            <p:nvSpPr>
              <p:cNvPr id="14" name="AutoShape 14"/>
              <p:cNvSpPr/>
              <p:nvPr/>
            </p:nvSpPr>
            <p:spPr>
              <a:xfrm rot="10800000">
                <a:off x="7133458" y="3793646"/>
                <a:ext cx="576000" cy="576000"/>
              </a:xfrm>
              <a:prstGeom prst="round2SameRect">
                <a:avLst/>
              </a:prstGeom>
              <a:solidFill>
                <a:srgbClr val="FF595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177333" y="3862327"/>
                <a:ext cx="488250" cy="43304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600" b="1" i="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098899" y="2121877"/>
              <a:ext cx="3420000" cy="3860281"/>
              <a:chOff x="8197197" y="3793645"/>
              <a:chExt cx="3420000" cy="3995700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8197197" y="3793645"/>
                <a:ext cx="3420000" cy="3995700"/>
              </a:xfrm>
              <a:prstGeom prst="roundRect">
                <a:avLst>
                  <a:gd name="adj" fmla="val 4512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77197" y="3950218"/>
                <a:ext cx="2340000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Class Balancing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377197" y="4670220"/>
                <a:ext cx="3060000" cy="297088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Perform oversampling on minority emotion categories (e.g., angry, sad) to create a balanced training set, mitigating bias towards dominant classes like "neutral".</a:t>
                </a:r>
                <a:endParaRPr lang="en-US" sz="1100"/>
              </a:p>
            </p:txBody>
          </p:sp>
          <p:sp>
            <p:nvSpPr>
              <p:cNvPr id="20" name="AutoShape 20"/>
              <p:cNvSpPr/>
              <p:nvPr/>
            </p:nvSpPr>
            <p:spPr>
              <a:xfrm rot="10800000">
                <a:off x="10789005" y="3793646"/>
                <a:ext cx="576000" cy="576000"/>
              </a:xfrm>
              <a:prstGeom prst="round2SameRect">
                <a:avLst/>
              </a:prstGeom>
              <a:solidFill>
                <a:srgbClr val="FF595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832880" y="3862327"/>
                <a:ext cx="488250" cy="43304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600" b="1" i="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 Preprocessing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5ecf981-a2f3-4864-871c-024729b18819"/>
          <p:cNvGrpSpPr/>
          <p:nvPr/>
        </p:nvGrpSpPr>
        <p:grpSpPr>
          <a:xfrm>
            <a:off x="660400" y="1130301"/>
            <a:ext cx="10858500" cy="5397499"/>
            <a:chOff x="660400" y="1130301"/>
            <a:chExt cx="10858500" cy="5397499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1"/>
              <a:ext cx="10858500" cy="56629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Two Complementary Architectures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2069065"/>
              <a:ext cx="5210878" cy="4458735"/>
              <a:chOff x="660400" y="2069065"/>
              <a:chExt cx="5210878" cy="4458735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2307159"/>
                <a:ext cx="5210878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9825" y="3303146"/>
                <a:ext cx="4912020" cy="30849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This track processes audio into log-mel spectrograms and extracts acoustic embeddings using a 2D CNN-BiLSTM. The ground-truth text is encoded by Cantonese-BERT. These embeddings are fused via late fusion with a learnable gating mechanism.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09825" y="2566988"/>
                <a:ext cx="4912020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Track 1: Acoustic-Text Fusion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3140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FF5954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308022" y="2069065"/>
              <a:ext cx="5210878" cy="4458735"/>
              <a:chOff x="6308022" y="2069065"/>
              <a:chExt cx="5210878" cy="4458735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6308022" y="2307159"/>
                <a:ext cx="5210878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457447" y="3303147"/>
                <a:ext cx="4912020" cy="308495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This track implements the CMA framework. An audio encoder (ENC1) and a text encoder (ENC2) process their respective inputs. Two parallel CMA blocks (CMA-1 &amp; CMA-2) enable bidirectional information flow between modalities.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457447" y="2566988"/>
                <a:ext cx="4912020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Track 2: Cross-Modal Attention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49600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FF5954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 Development: Dual-Track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 Architecture (Track 2)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4DE79C1-BD51-5337-C438-6AA90535B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5136325" cy="43209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cc176ec-2ed2-461c-80de-1ceab374a9ba"/>
          <p:cNvGrpSpPr/>
          <p:nvPr/>
        </p:nvGrpSpPr>
        <p:grpSpPr>
          <a:xfrm>
            <a:off x="0" y="1130301"/>
            <a:ext cx="11531600" cy="5003799"/>
            <a:chOff x="0" y="1130301"/>
            <a:chExt cx="11531600" cy="5003799"/>
          </a:xfrm>
        </p:grpSpPr>
        <p:sp>
          <p:nvSpPr>
            <p:cNvPr id="3" name="AutoShape 3"/>
            <p:cNvSpPr/>
            <p:nvPr/>
          </p:nvSpPr>
          <p:spPr>
            <a:xfrm flipH="1">
              <a:off x="0" y="1835072"/>
              <a:ext cx="10614452" cy="0"/>
            </a:xfrm>
            <a:prstGeom prst="line">
              <a:avLst/>
            </a:prstGeom>
            <a:ln w="12700">
              <a:solidFill>
                <a:srgbClr val="FF5954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 flipH="1" flipV="1">
              <a:off x="10614452" y="1835072"/>
              <a:ext cx="147995" cy="154422"/>
            </a:xfrm>
            <a:prstGeom prst="line">
              <a:avLst/>
            </a:prstGeom>
            <a:ln w="12700">
              <a:solidFill>
                <a:srgbClr val="FF5954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 flipH="1">
              <a:off x="10762447" y="1989494"/>
              <a:ext cx="611725" cy="0"/>
            </a:xfrm>
            <a:prstGeom prst="line">
              <a:avLst/>
            </a:prstGeom>
            <a:ln w="12700">
              <a:solidFill>
                <a:srgbClr val="FF5954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 flipH="1">
              <a:off x="11376844" y="1912116"/>
              <a:ext cx="154756" cy="154756"/>
            </a:xfrm>
            <a:prstGeom prst="rect">
              <a:avLst/>
            </a:prstGeom>
            <a:solidFill>
              <a:srgbClr val="FF5954">
                <a:alpha val="100000"/>
              </a:srgbClr>
            </a:solidFill>
            <a:ln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0399" y="1130301"/>
              <a:ext cx="10858500" cy="62487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Ensuring Rigorous and Fair Comparison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60400" y="2146438"/>
              <a:ext cx="5338679" cy="1808286"/>
              <a:chOff x="660400" y="2146438"/>
              <a:chExt cx="5338679" cy="1808286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074321" y="2545029"/>
                <a:ext cx="4924758" cy="14096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Use Unweighted Average Recall (UAR) as the primary metric to fairly evaluate model performance on the imbalanced dataset.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74321" y="2146438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Evaluation Metric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0400" y="214643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5954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60400" y="4325815"/>
              <a:ext cx="5338679" cy="1808285"/>
              <a:chOff x="660400" y="4325815"/>
              <a:chExt cx="5338679" cy="1808285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074321" y="4724405"/>
                <a:ext cx="4924758" cy="14096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Employ speaker-independent 5-fold cross-validation to ensure the generalizability and reliability of the model evaluation.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74321" y="4325815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Cross-Validation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60400" y="4325815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5954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180221" y="2146438"/>
              <a:ext cx="5338679" cy="1808286"/>
              <a:chOff x="6180221" y="2146438"/>
              <a:chExt cx="5338679" cy="180828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4142" y="2545029"/>
                <a:ext cx="4924758" cy="14096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Compare against strong baselines, including fine-tuned Wav2Vec 2.0 and a monolingual CNN-LSTM model.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594142" y="2146438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Baseline Models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180221" y="214643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5954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180221" y="4325815"/>
              <a:ext cx="5338679" cy="1808285"/>
              <a:chOff x="6180221" y="4325815"/>
              <a:chExt cx="5338679" cy="1808285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594142" y="4724405"/>
                <a:ext cx="4924758" cy="14096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Assess the statistical significance of performance differences using paired t-tests (p &lt; 0.05).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594142" y="4325815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Statistical Significance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180221" y="4325815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5954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Evaluation Protocol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2084226"/>
            <a:ext cx="6711244" cy="268954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 strike="noStrik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Thank you!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5570220"/>
            <a:ext cx="451788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400" b="0" i="0" strike="noStrik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Li Junyan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0" y="5844540"/>
            <a:ext cx="451788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400" b="0" i="0" strike="noStrik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2026.3.24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1859566-769d-473f-b863-626eac761f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818</Words>
  <Application>Microsoft Office PowerPoint</Application>
  <PresentationFormat>宽屏</PresentationFormat>
  <Paragraphs>106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微软雅黑</vt:lpstr>
      <vt:lpstr>Arial</vt:lpstr>
      <vt:lpstr>Calibri</vt:lpstr>
      <vt:lpstr>41859566-769d-473f-b863-626eac761f15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rude</dc:creator>
  <cp:lastModifiedBy>u3666033@connect.hku.hk</cp:lastModifiedBy>
  <cp:revision>2</cp:revision>
  <dcterms:created xsi:type="dcterms:W3CDTF">2006-08-16T00:00:00Z</dcterms:created>
  <dcterms:modified xsi:type="dcterms:W3CDTF">2026-03-25T06:28:31Z</dcterms:modified>
</cp:coreProperties>
</file>